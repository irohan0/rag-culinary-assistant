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CG Times" panose="020B0604020202020204" charset="0"/>
      <p:regular r:id="rId13"/>
      <p:bold r:id="rId14"/>
      <p:italic r:id="rId15"/>
      <p:boldItalic r:id="rId16"/>
    </p:embeddedFont>
    <p:embeddedFont>
      <p:font typeface="Della Respira" panose="020B0604020202020204" charset="0"/>
      <p:regular r:id="rId17"/>
    </p:embeddedFont>
    <p:embeddedFont>
      <p:font typeface="DM Sans" panose="020F0502020204030204" pitchFamily="2" charset="0"/>
      <p:regular r:id="rId18"/>
      <p:bold r:id="rId19"/>
      <p:italic r:id="rId20"/>
      <p:boldItalic r:id="rId21"/>
    </p:embeddedFont>
    <p:embeddedFont>
      <p:font typeface="DM Sans Ligh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ED2331-044A-4BCB-BE91-CD30B30C1B7B}">
  <a:tblStyle styleId="{12ED2331-044A-4BCB-BE91-CD30B30C1B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8a58a2be3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8a58a2be3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8a58a2be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8a58a2be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8a58a2b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d8a58a2b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8a58a2be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d8a58a2be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8a58a2be3_0_7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8a58a2be3_0_7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8a58a2be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8a58a2be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8a58a2be3_0_8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8a58a2be3_0_8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8a58a2be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d8a58a2be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8a58a2be3_0_9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8a58a2be3_0_9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8a58a2be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d8a58a2be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name="adj" fmla="val 34148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16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>
            <a:spLocks noGrp="1"/>
          </p:cNvSpPr>
          <p:nvPr>
            <p:ph type="pic" idx="2"/>
          </p:nvPr>
        </p:nvSpPr>
        <p:spPr>
          <a:xfrm>
            <a:off x="4676850" y="1342250"/>
            <a:ext cx="4201200" cy="3510600"/>
          </a:xfrm>
          <a:prstGeom prst="roundRect">
            <a:avLst>
              <a:gd name="adj" fmla="val 577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name="adj" fmla="val 5734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s and Assigned Sections">
  <p:cSld name="CUSTOM_2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name="adj" fmla="val 1744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name="adj" fmla="val 1744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name="adj" fmla="val 1744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name="adj" fmla="val 17449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3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4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5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6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7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8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9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pic" idx="13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5"/>
          <p:cNvSpPr>
            <a:spLocks noGrp="1"/>
          </p:cNvSpPr>
          <p:nvPr>
            <p:ph type="pic" idx="14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5"/>
          <p:cNvSpPr>
            <a:spLocks noGrp="1"/>
          </p:cNvSpPr>
          <p:nvPr>
            <p:ph type="pic" idx="15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1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ubTitle" idx="2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3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4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5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6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7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8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9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13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ok 1">
  <p:cSld name="CUSTOM_4">
    <p:bg>
      <p:bgPr>
        <a:solidFill>
          <a:schemeClr val="dk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4676850" y="279050"/>
            <a:ext cx="4201200" cy="4573800"/>
          </a:xfrm>
          <a:prstGeom prst="roundRect">
            <a:avLst>
              <a:gd name="adj" fmla="val 482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74" name="Google Shape;74;p7"/>
          <p:cNvSpPr txBox="1">
            <a:spLocks noGrp="1"/>
          </p:cNvSpPr>
          <p:nvPr>
            <p:ph type="body" idx="1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name="adj" fmla="val 25275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/>
          </a:p>
        </p:txBody>
      </p: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3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1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ok 2">
  <p:cSld name="CUSTOM_5">
    <p:bg>
      <p:bgPr>
        <a:solidFill>
          <a:schemeClr val="lt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>
            <a:spLocks noGrp="1"/>
          </p:cNvSpPr>
          <p:nvPr>
            <p:ph type="pic" idx="2"/>
          </p:nvPr>
        </p:nvSpPr>
        <p:spPr>
          <a:xfrm>
            <a:off x="6781525" y="279050"/>
            <a:ext cx="2096400" cy="4573800"/>
          </a:xfrm>
          <a:prstGeom prst="roundRect">
            <a:avLst>
              <a:gd name="adj" fmla="val 965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name="adj" fmla="val 5734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86" name="Google Shape;86;p8"/>
          <p:cNvSpPr txBox="1">
            <a:spLocks noGrp="1"/>
          </p:cNvSpPr>
          <p:nvPr>
            <p:ph type="subTitle" idx="3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ok 3">
  <p:cSld name="CUSTOM_6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name="adj" fmla="val 5734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89" name="Google Shape;89;p9"/>
          <p:cNvSpPr txBox="1">
            <a:spLocks noGrp="1"/>
          </p:cNvSpPr>
          <p:nvPr>
            <p:ph type="body" idx="1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2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1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3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1">
  <p:cSld name="CUSTOM_7">
    <p:bg>
      <p:bgPr>
        <a:solidFill>
          <a:schemeClr val="dk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>
            <a:spLocks noGrp="1"/>
          </p:cNvSpPr>
          <p:nvPr>
            <p:ph type="pic" idx="2"/>
          </p:nvPr>
        </p:nvSpPr>
        <p:spPr>
          <a:xfrm>
            <a:off x="274950" y="1159275"/>
            <a:ext cx="2096400" cy="3705000"/>
          </a:xfrm>
          <a:prstGeom prst="roundRect">
            <a:avLst>
              <a:gd name="adj" fmla="val 11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name="adj" fmla="val 5734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3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1 Alt">
  <p:cSld name="CUSTOM_7_1">
    <p:bg>
      <p:bgPr>
        <a:solidFill>
          <a:schemeClr val="dk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>
            <a:spLocks noGrp="1"/>
          </p:cNvSpPr>
          <p:nvPr>
            <p:ph type="pic" idx="2"/>
          </p:nvPr>
        </p:nvSpPr>
        <p:spPr>
          <a:xfrm>
            <a:off x="2547100" y="1159275"/>
            <a:ext cx="6326700" cy="3705000"/>
          </a:xfrm>
          <a:prstGeom prst="roundRect">
            <a:avLst>
              <a:gd name="adj" fmla="val 653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1"/>
          <p:cNvSpPr txBox="1">
            <a:spLocks noGrp="1"/>
          </p:cNvSpPr>
          <p:nvPr>
            <p:ph type="body" idx="1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10" name="Google Shape;110;p11"/>
          <p:cNvSpPr txBox="1">
            <a:spLocks noGrp="1"/>
          </p:cNvSpPr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3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1 Editable">
  <p:cSld name="CUSTOM_7_1_1">
    <p:bg>
      <p:bgPr>
        <a:solidFill>
          <a:schemeClr val="dk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>
            <a:spLocks noGrp="1"/>
          </p:cNvSpPr>
          <p:nvPr>
            <p:ph type="pic" idx="2"/>
          </p:nvPr>
        </p:nvSpPr>
        <p:spPr>
          <a:xfrm>
            <a:off x="4672600" y="1159275"/>
            <a:ext cx="4201200" cy="3705000"/>
          </a:xfrm>
          <a:prstGeom prst="roundRect">
            <a:avLst>
              <a:gd name="adj" fmla="val 629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2"/>
          <p:cNvSpPr txBox="1">
            <a:spLocks noGrp="1"/>
          </p:cNvSpPr>
          <p:nvPr>
            <p:ph type="body" idx="1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17" name="Google Shape;117;p12"/>
          <p:cNvSpPr txBox="1">
            <a:spLocks noGrp="1"/>
          </p:cNvSpPr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subTitle" idx="3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2">
  <p:cSld name="CUSTOM_8">
    <p:bg>
      <p:bgPr>
        <a:solidFill>
          <a:schemeClr val="l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>
            <a:spLocks noGrp="1"/>
          </p:cNvSpPr>
          <p:nvPr>
            <p:ph type="pic" idx="2"/>
          </p:nvPr>
        </p:nvSpPr>
        <p:spPr>
          <a:xfrm>
            <a:off x="6777400" y="1159275"/>
            <a:ext cx="2096400" cy="3705000"/>
          </a:xfrm>
          <a:prstGeom prst="roundRect">
            <a:avLst>
              <a:gd name="adj" fmla="val 11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3">
  <p:cSld name="CUSTOM_9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>
            <a:spLocks noGrp="1"/>
          </p:cNvSpPr>
          <p:nvPr>
            <p:ph type="pic" idx="2"/>
          </p:nvPr>
        </p:nvSpPr>
        <p:spPr>
          <a:xfrm>
            <a:off x="274950" y="284775"/>
            <a:ext cx="2096400" cy="3705000"/>
          </a:xfrm>
          <a:prstGeom prst="roundRect">
            <a:avLst>
              <a:gd name="adj" fmla="val 11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name="adj" fmla="val 5734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30" name="Google Shape;130;p14"/>
          <p:cNvSpPr txBox="1">
            <a:spLocks noGrp="1"/>
          </p:cNvSpPr>
          <p:nvPr>
            <p:ph type="body" idx="1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ubTitle" idx="3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4">
  <p:cSld name="CUSTOM_10">
    <p:bg>
      <p:bgPr>
        <a:solidFill>
          <a:schemeClr val="accent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name="adj" fmla="val 5734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37" name="Google Shape;137;p15"/>
          <p:cNvSpPr txBox="1">
            <a:spLocks noGrp="1"/>
          </p:cNvSpPr>
          <p:nvPr>
            <p:ph type="body" idx="1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>
            <a:spLocks noGrp="1"/>
          </p:cNvSpPr>
          <p:nvPr>
            <p:ph type="pic" idx="2"/>
          </p:nvPr>
        </p:nvSpPr>
        <p:spPr>
          <a:xfrm>
            <a:off x="6777400" y="284775"/>
            <a:ext cx="2096400" cy="3705000"/>
          </a:xfrm>
          <a:prstGeom prst="roundRect">
            <a:avLst>
              <a:gd name="adj" fmla="val 11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3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11">
    <p:bg>
      <p:bgPr>
        <a:solidFill>
          <a:schemeClr val="dk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name="adj" fmla="val 5734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1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2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 Page 6">
  <p:cSld name="CUSTOM_12">
    <p:bg>
      <p:bgPr>
        <a:solidFill>
          <a:schemeClr val="lt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name="adj" fmla="val 5734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1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>
            <a:spLocks noGrp="1"/>
          </p:cNvSpPr>
          <p:nvPr>
            <p:ph type="pic" idx="2"/>
          </p:nvPr>
        </p:nvSpPr>
        <p:spPr>
          <a:xfrm>
            <a:off x="274950" y="1352225"/>
            <a:ext cx="4201200" cy="35106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3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1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Slide">
  <p:cSld name="CUSTOM_13">
    <p:bg>
      <p:bgPr>
        <a:solidFill>
          <a:schemeClr val="dk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>
            <a:spLocks noGrp="1"/>
          </p:cNvSpPr>
          <p:nvPr>
            <p:ph type="pic" idx="2"/>
          </p:nvPr>
        </p:nvSpPr>
        <p:spPr>
          <a:xfrm>
            <a:off x="6777400" y="1352225"/>
            <a:ext cx="2096400" cy="3510600"/>
          </a:xfrm>
          <a:prstGeom prst="roundRect">
            <a:avLst>
              <a:gd name="adj" fmla="val 918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name="adj" fmla="val 5734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Slide 2">
  <p:cSld name="CUSTOM_14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37150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name="adj" fmla="val 16928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name="adj" fmla="val 16928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subTitle" idx="2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subTitle" idx="3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4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5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body" idx="6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>
            <a:spLocks noGrp="1"/>
          </p:cNvSpPr>
          <p:nvPr>
            <p:ph type="pic" idx="7"/>
          </p:nvPr>
        </p:nvSpPr>
        <p:spPr>
          <a:xfrm>
            <a:off x="6777400" y="1352225"/>
            <a:ext cx="2096400" cy="3510600"/>
          </a:xfrm>
          <a:prstGeom prst="roundRect">
            <a:avLst>
              <a:gd name="adj" fmla="val 918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Cover">
  <p:cSld name="CUSTOM_15">
    <p:bg>
      <p:bgPr>
        <a:solidFill>
          <a:schemeClr val="dk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>
            <a:spLocks noGrp="1"/>
          </p:cNvSpPr>
          <p:nvPr>
            <p:ph type="pic" idx="2"/>
          </p:nvPr>
        </p:nvSpPr>
        <p:spPr>
          <a:xfrm>
            <a:off x="274950" y="284975"/>
            <a:ext cx="8598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0"/>
          <p:cNvSpPr>
            <a:spLocks noGrp="1"/>
          </p:cNvSpPr>
          <p:nvPr>
            <p:ph type="pic" idx="3"/>
          </p:nvPr>
        </p:nvSpPr>
        <p:spPr>
          <a:xfrm>
            <a:off x="274950" y="3235225"/>
            <a:ext cx="8598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Cover with Names">
  <p:cSld name="CUSTOM_15_1">
    <p:bg>
      <p:bgPr>
        <a:solidFill>
          <a:schemeClr val="lt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>
            <a:spLocks noGrp="1"/>
          </p:cNvSpPr>
          <p:nvPr>
            <p:ph type="pic" idx="2"/>
          </p:nvPr>
        </p:nvSpPr>
        <p:spPr>
          <a:xfrm>
            <a:off x="274950" y="3235225"/>
            <a:ext cx="4191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name="adj" fmla="val 16928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1"/>
          <p:cNvSpPr>
            <a:spLocks noGrp="1"/>
          </p:cNvSpPr>
          <p:nvPr>
            <p:ph type="pic" idx="3"/>
          </p:nvPr>
        </p:nvSpPr>
        <p:spPr>
          <a:xfrm>
            <a:off x="274950" y="284975"/>
            <a:ext cx="8598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solidFill>
          <a:schemeClr val="accent3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">
  <p:cSld name="CUSTOM_17">
    <p:bg>
      <p:bgPr>
        <a:solidFill>
          <a:schemeClr val="lt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name="adj" fmla="val 34148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subTitle" idx="1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7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8">
    <p:bg>
      <p:bgPr>
        <a:solidFill>
          <a:schemeClr val="l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0">
    <p:bg>
      <p:bgPr>
        <a:solidFill>
          <a:schemeClr val="dk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CUSTOM_21">
    <p:bg>
      <p:bgPr>
        <a:solidFill>
          <a:schemeClr val="lt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name="adj" fmla="val 34148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>
            <a:spLocks noGrp="1"/>
          </p:cNvSpPr>
          <p:nvPr>
            <p:ph type="subTitle" idx="2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22">
    <p:bg>
      <p:bgPr>
        <a:solidFill>
          <a:schemeClr val="lt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CUSTOM_2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21" name="Google Shape;221;p29"/>
          <p:cNvSpPr txBox="1">
            <a:spLocks noGrp="1"/>
          </p:cNvSpPr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1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4">
    <p:bg>
      <p:bgPr>
        <a:solidFill>
          <a:schemeClr val="dk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body" idx="1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5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body" idx="1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29" name="Google Shape;229;p31"/>
          <p:cNvSpPr txBox="1">
            <a:spLocks noGrp="1"/>
          </p:cNvSpPr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26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subTitle" idx="1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>
            <a:spLocks noGrp="1"/>
          </p:cNvSpPr>
          <p:nvPr>
            <p:ph type="subTitle" idx="2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>
            <a:spLocks noGrp="1"/>
          </p:cNvSpPr>
          <p:nvPr>
            <p:ph type="subTitle" idx="3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>
            <a:spLocks noGrp="1"/>
          </p:cNvSpPr>
          <p:nvPr>
            <p:ph type="subTitle" idx="4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5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name="adj" fmla="val 32052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6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27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name="adj" fmla="val 5734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1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33"/>
          <p:cNvSpPr>
            <a:spLocks noGrp="1"/>
          </p:cNvSpPr>
          <p:nvPr>
            <p:ph type="pic" idx="2"/>
          </p:nvPr>
        </p:nvSpPr>
        <p:spPr>
          <a:xfrm>
            <a:off x="274950" y="1352225"/>
            <a:ext cx="4201200" cy="35106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28">
    <p:bg>
      <p:bgPr>
        <a:solidFill>
          <a:schemeClr val="lt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53" name="Google Shape;253;p34"/>
          <p:cNvSpPr txBox="1">
            <a:spLocks noGrp="1"/>
          </p:cNvSpPr>
          <p:nvPr>
            <p:ph type="body" idx="1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55" name="Google Shape;255;p34"/>
          <p:cNvSpPr txBox="1">
            <a:spLocks noGrp="1"/>
          </p:cNvSpPr>
          <p:nvPr>
            <p:ph type="body" idx="2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57" name="Google Shape;257;p34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59" name="Google Shape;259;p34"/>
          <p:cNvSpPr txBox="1">
            <a:spLocks noGrp="1"/>
          </p:cNvSpPr>
          <p:nvPr>
            <p:ph type="subTitle" idx="3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61" name="Google Shape;261;p34"/>
          <p:cNvSpPr txBox="1">
            <a:spLocks noGrp="1"/>
          </p:cNvSpPr>
          <p:nvPr>
            <p:ph type="subTitle" idx="4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9">
    <p:bg>
      <p:bgPr>
        <a:solidFill>
          <a:schemeClr val="lt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64" name="Google Shape;264;p35"/>
          <p:cNvSpPr txBox="1">
            <a:spLocks noGrp="1"/>
          </p:cNvSpPr>
          <p:nvPr>
            <p:ph type="body" idx="1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2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70" name="Google Shape;270;p35"/>
          <p:cNvSpPr txBox="1">
            <a:spLocks noGrp="1"/>
          </p:cNvSpPr>
          <p:nvPr>
            <p:ph type="body" idx="3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72" name="Google Shape;272;p35"/>
          <p:cNvSpPr txBox="1">
            <a:spLocks noGrp="1"/>
          </p:cNvSpPr>
          <p:nvPr>
            <p:ph type="subTitle" idx="4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74" name="Google Shape;274;p35"/>
          <p:cNvSpPr txBox="1">
            <a:spLocks noGrp="1"/>
          </p:cNvSpPr>
          <p:nvPr>
            <p:ph type="body" idx="5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76" name="Google Shape;276;p35"/>
          <p:cNvSpPr txBox="1">
            <a:spLocks noGrp="1"/>
          </p:cNvSpPr>
          <p:nvPr>
            <p:ph type="subTitle" idx="6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0">
    <p:bg>
      <p:bgPr>
        <a:solidFill>
          <a:schemeClr val="lt2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79" name="Google Shape;279;p36"/>
          <p:cNvSpPr txBox="1">
            <a:spLocks noGrp="1"/>
          </p:cNvSpPr>
          <p:nvPr>
            <p:ph type="body" idx="1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81" name="Google Shape;281;p36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83" name="Google Shape;283;p36"/>
          <p:cNvSpPr txBox="1">
            <a:spLocks noGrp="1"/>
          </p:cNvSpPr>
          <p:nvPr>
            <p:ph type="subTitle" idx="2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3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87" name="Google Shape;287;p36"/>
          <p:cNvSpPr txBox="1">
            <a:spLocks noGrp="1"/>
          </p:cNvSpPr>
          <p:nvPr>
            <p:ph type="subTitle" idx="4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89" name="Google Shape;289;p36"/>
          <p:cNvSpPr txBox="1">
            <a:spLocks noGrp="1"/>
          </p:cNvSpPr>
          <p:nvPr>
            <p:ph type="body" idx="5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91" name="Google Shape;291;p36"/>
          <p:cNvSpPr txBox="1">
            <a:spLocks noGrp="1"/>
          </p:cNvSpPr>
          <p:nvPr>
            <p:ph type="subTitle" idx="6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93" name="Google Shape;293;p36"/>
          <p:cNvSpPr txBox="1">
            <a:spLocks noGrp="1"/>
          </p:cNvSpPr>
          <p:nvPr>
            <p:ph type="body" idx="7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8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Image">
  <p:cSld name="CUSTOM_3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>
            <a:spLocks noGrp="1"/>
          </p:cNvSpPr>
          <p:nvPr>
            <p:ph type="pic" idx="2"/>
          </p:nvPr>
        </p:nvSpPr>
        <p:spPr>
          <a:xfrm>
            <a:off x="274950" y="1352225"/>
            <a:ext cx="8598900" cy="35106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32">
    <p:bg>
      <p:bgPr>
        <a:solidFill>
          <a:schemeClr val="dk2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07" name="Google Shape;307;p38"/>
          <p:cNvSpPr txBox="1">
            <a:spLocks noGrp="1"/>
          </p:cNvSpPr>
          <p:nvPr>
            <p:ph type="subTitle" idx="2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09" name="Google Shape;309;p38"/>
          <p:cNvSpPr txBox="1">
            <a:spLocks noGrp="1"/>
          </p:cNvSpPr>
          <p:nvPr>
            <p:ph type="subTitle" idx="3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10" name="Google Shape;310;p38"/>
          <p:cNvSpPr>
            <a:spLocks noGrp="1"/>
          </p:cNvSpPr>
          <p:nvPr>
            <p:ph type="pic" idx="4"/>
          </p:nvPr>
        </p:nvSpPr>
        <p:spPr>
          <a:xfrm>
            <a:off x="274950" y="1822175"/>
            <a:ext cx="4201200" cy="17859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38"/>
          <p:cNvSpPr txBox="1">
            <a:spLocks noGrp="1"/>
          </p:cNvSpPr>
          <p:nvPr>
            <p:ph type="body" idx="5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12" name="Google Shape;312;p38"/>
          <p:cNvSpPr>
            <a:spLocks noGrp="1"/>
          </p:cNvSpPr>
          <p:nvPr>
            <p:ph type="pic" idx="6"/>
          </p:nvPr>
        </p:nvSpPr>
        <p:spPr>
          <a:xfrm>
            <a:off x="4672575" y="1822175"/>
            <a:ext cx="4201200" cy="17859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33">
    <p:bg>
      <p:bgPr>
        <a:solidFill>
          <a:schemeClr val="dk2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16" name="Google Shape;316;p39"/>
          <p:cNvSpPr txBox="1">
            <a:spLocks noGrp="1"/>
          </p:cNvSpPr>
          <p:nvPr>
            <p:ph type="body" idx="1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318" name="Google Shape;318;p39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20" name="Google Shape;320;p39"/>
          <p:cNvSpPr txBox="1">
            <a:spLocks noGrp="1"/>
          </p:cNvSpPr>
          <p:nvPr>
            <p:ph type="subTitle" idx="2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22" name="Google Shape;322;p39"/>
          <p:cNvSpPr txBox="1">
            <a:spLocks noGrp="1"/>
          </p:cNvSpPr>
          <p:nvPr>
            <p:ph type="subTitle" idx="3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23" name="Google Shape;323;p39"/>
          <p:cNvSpPr>
            <a:spLocks noGrp="1"/>
          </p:cNvSpPr>
          <p:nvPr>
            <p:ph type="pic" idx="4"/>
          </p:nvPr>
        </p:nvSpPr>
        <p:spPr>
          <a:xfrm>
            <a:off x="274950" y="1822175"/>
            <a:ext cx="2780400" cy="17859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39"/>
          <p:cNvSpPr txBox="1">
            <a:spLocks noGrp="1"/>
          </p:cNvSpPr>
          <p:nvPr>
            <p:ph type="body" idx="5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25" name="Google Shape;325;p39"/>
          <p:cNvSpPr>
            <a:spLocks noGrp="1"/>
          </p:cNvSpPr>
          <p:nvPr>
            <p:ph type="pic" idx="6"/>
          </p:nvPr>
        </p:nvSpPr>
        <p:spPr>
          <a:xfrm>
            <a:off x="3185350" y="1822175"/>
            <a:ext cx="2780400" cy="17859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name="adj" fmla="val 573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name="adj" fmla="val 2825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328" name="Google Shape;328;p39"/>
          <p:cNvSpPr txBox="1">
            <a:spLocks noGrp="1"/>
          </p:cNvSpPr>
          <p:nvPr>
            <p:ph type="subTitle" idx="7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329" name="Google Shape;329;p39"/>
          <p:cNvSpPr txBox="1">
            <a:spLocks noGrp="1"/>
          </p:cNvSpPr>
          <p:nvPr>
            <p:ph type="body" idx="8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39"/>
          <p:cNvSpPr>
            <a:spLocks noGrp="1"/>
          </p:cNvSpPr>
          <p:nvPr>
            <p:ph type="pic" idx="9"/>
          </p:nvPr>
        </p:nvSpPr>
        <p:spPr>
          <a:xfrm>
            <a:off x="6095760" y="1822175"/>
            <a:ext cx="2780400" cy="17859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34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>
            <a:spLocks noGrp="1"/>
          </p:cNvSpPr>
          <p:nvPr>
            <p:ph type="pic" idx="2"/>
          </p:nvPr>
        </p:nvSpPr>
        <p:spPr>
          <a:xfrm>
            <a:off x="274950" y="273750"/>
            <a:ext cx="8598900" cy="4596000"/>
          </a:xfrm>
          <a:prstGeom prst="roundRect">
            <a:avLst>
              <a:gd name="adj" fmla="val 529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35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>
            <a:spLocks noGrp="1"/>
          </p:cNvSpPr>
          <p:nvPr>
            <p:ph type="pic" idx="2"/>
          </p:nvPr>
        </p:nvSpPr>
        <p:spPr>
          <a:xfrm>
            <a:off x="7186900" y="1350138"/>
            <a:ext cx="1685700" cy="3510600"/>
          </a:xfrm>
          <a:prstGeom prst="roundRect">
            <a:avLst>
              <a:gd name="adj" fmla="val 918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336" name="Google Shape;336;p41"/>
          <p:cNvSpPr txBox="1">
            <a:spLocks noGrp="1"/>
          </p:cNvSpPr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337" name="Google Shape;337;p41"/>
          <p:cNvSpPr>
            <a:spLocks noGrp="1"/>
          </p:cNvSpPr>
          <p:nvPr>
            <p:ph type="pic" idx="3"/>
          </p:nvPr>
        </p:nvSpPr>
        <p:spPr>
          <a:xfrm>
            <a:off x="273650" y="1350150"/>
            <a:ext cx="1636500" cy="16884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41"/>
          <p:cNvSpPr>
            <a:spLocks noGrp="1"/>
          </p:cNvSpPr>
          <p:nvPr>
            <p:ph type="pic" idx="4"/>
          </p:nvPr>
        </p:nvSpPr>
        <p:spPr>
          <a:xfrm>
            <a:off x="1998688" y="1350150"/>
            <a:ext cx="1636500" cy="16884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41"/>
          <p:cNvSpPr>
            <a:spLocks noGrp="1"/>
          </p:cNvSpPr>
          <p:nvPr>
            <p:ph type="pic" idx="5"/>
          </p:nvPr>
        </p:nvSpPr>
        <p:spPr>
          <a:xfrm>
            <a:off x="3723713" y="1350150"/>
            <a:ext cx="1636500" cy="16884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41"/>
          <p:cNvSpPr>
            <a:spLocks noGrp="1"/>
          </p:cNvSpPr>
          <p:nvPr>
            <p:ph type="pic" idx="6"/>
          </p:nvPr>
        </p:nvSpPr>
        <p:spPr>
          <a:xfrm>
            <a:off x="5455300" y="1350150"/>
            <a:ext cx="1636500" cy="16884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41"/>
          <p:cNvSpPr>
            <a:spLocks noGrp="1"/>
          </p:cNvSpPr>
          <p:nvPr>
            <p:ph type="pic" idx="7"/>
          </p:nvPr>
        </p:nvSpPr>
        <p:spPr>
          <a:xfrm>
            <a:off x="273650" y="3131825"/>
            <a:ext cx="1636500" cy="17289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41"/>
          <p:cNvSpPr>
            <a:spLocks noGrp="1"/>
          </p:cNvSpPr>
          <p:nvPr>
            <p:ph type="pic" idx="8"/>
          </p:nvPr>
        </p:nvSpPr>
        <p:spPr>
          <a:xfrm>
            <a:off x="1998688" y="3131825"/>
            <a:ext cx="1636500" cy="17289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41"/>
          <p:cNvSpPr>
            <a:spLocks noGrp="1"/>
          </p:cNvSpPr>
          <p:nvPr>
            <p:ph type="pic" idx="9"/>
          </p:nvPr>
        </p:nvSpPr>
        <p:spPr>
          <a:xfrm>
            <a:off x="3723713" y="3131825"/>
            <a:ext cx="1636500" cy="17289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41"/>
          <p:cNvSpPr>
            <a:spLocks noGrp="1"/>
          </p:cNvSpPr>
          <p:nvPr>
            <p:ph type="pic" idx="13"/>
          </p:nvPr>
        </p:nvSpPr>
        <p:spPr>
          <a:xfrm>
            <a:off x="5455300" y="3131825"/>
            <a:ext cx="1636500" cy="1728900"/>
          </a:xfrm>
          <a:prstGeom prst="roundRect">
            <a:avLst>
              <a:gd name="adj" fmla="val 966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36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8" name="Google Shape;348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9" name="Google Shape;34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2" name="Google Shape;35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56" name="Google Shape;356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0" name="Google Shape;360;p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1" name="Google Shape;361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7" name="Google Shape;367;p4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8" name="Google Shape;36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1" name="Google Shape;37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5" name="Google Shape;375;p5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6" name="Google Shape;376;p5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5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0" name="Google Shape;390;p5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5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5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3" name="Google Shape;393;p5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7" name="Google Shape;397;p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8" name="Google Shape;398;p54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99" name="Google Shape;399;p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0" name="Google Shape;400;p54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1" name="Google Shape;401;p54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2" name="Google Shape;402;p54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5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5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5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9" name="Google Shape;409;p5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0" name="Google Shape;410;p5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0" name="Google Shape;420;p5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3" name="Google Shape;423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5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6" name="Google Shape;426;p5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9" name="Google Shape;429;p5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2" name="Google Shape;432;p5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4" name="Google Shape;434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7" name="Google Shape;437;p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8" name="Google Shape;438;p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6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1">
  <p:cSld name="Introduction (g3d8a89d1b2b_6_0)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>
            <a:spLocks noGrp="1"/>
          </p:cNvSpPr>
          <p:nvPr>
            <p:ph type="pic" idx="2"/>
          </p:nvPr>
        </p:nvSpPr>
        <p:spPr>
          <a:xfrm>
            <a:off x="4676850" y="1342250"/>
            <a:ext cx="4201200" cy="3510600"/>
          </a:xfrm>
          <a:prstGeom prst="roundRect">
            <a:avLst>
              <a:gd name="adj" fmla="val 577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61"/>
          <p:cNvSpPr txBox="1">
            <a:spLocks noGrp="1"/>
          </p:cNvSpPr>
          <p:nvPr>
            <p:ph type="body" idx="1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457" name="Google Shape;457;p61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(g3d8a89d1b2b_21_0)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460" name="Google Shape;460;p62"/>
          <p:cNvSpPr txBox="1">
            <a:spLocks noGrp="1"/>
          </p:cNvSpPr>
          <p:nvPr>
            <p:ph type="subTitle" idx="1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461" name="Google Shape;461;p62"/>
          <p:cNvSpPr txBox="1">
            <a:spLocks noGrp="1"/>
          </p:cNvSpPr>
          <p:nvPr>
            <p:ph type="subTitle" idx="2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462" name="Google Shape;462;p62"/>
          <p:cNvSpPr txBox="1">
            <a:spLocks noGrp="1"/>
          </p:cNvSpPr>
          <p:nvPr>
            <p:ph type="subTitle" idx="3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463" name="Google Shape;463;p62"/>
          <p:cNvSpPr txBox="1">
            <a:spLocks noGrp="1"/>
          </p:cNvSpPr>
          <p:nvPr>
            <p:ph type="subTitle" idx="4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464" name="Google Shape;464;p62"/>
          <p:cNvSpPr txBox="1">
            <a:spLocks noGrp="1"/>
          </p:cNvSpPr>
          <p:nvPr>
            <p:ph type="subTitle" idx="5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465" name="Google Shape;465;p62"/>
          <p:cNvSpPr txBox="1">
            <a:spLocks noGrp="1"/>
          </p:cNvSpPr>
          <p:nvPr>
            <p:ph type="subTitle" idx="6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66" name="Google Shape;466;p62"/>
          <p:cNvSpPr txBox="1">
            <a:spLocks noGrp="1"/>
          </p:cNvSpPr>
          <p:nvPr>
            <p:ph type="subTitle" idx="7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67" name="Google Shape;467;p62"/>
          <p:cNvSpPr txBox="1">
            <a:spLocks noGrp="1"/>
          </p:cNvSpPr>
          <p:nvPr>
            <p:ph type="subTitle" idx="8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68" name="Google Shape;468;p62"/>
          <p:cNvSpPr txBox="1">
            <a:spLocks noGrp="1"/>
          </p:cNvSpPr>
          <p:nvPr>
            <p:ph type="subTitle" idx="9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69" name="Google Shape;469;p62"/>
          <p:cNvSpPr txBox="1">
            <a:spLocks noGrp="1"/>
          </p:cNvSpPr>
          <p:nvPr>
            <p:ph type="subTitle" idx="13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sz="28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udents and Assigned Sections 1">
  <p:cSld name="Students and Assigned Sections (g3d8a89d1b2b_49_0)">
    <p:bg>
      <p:bgPr>
        <a:solidFill>
          <a:schemeClr val="lt2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3"/>
          <p:cNvSpPr>
            <a:spLocks noGrp="1"/>
          </p:cNvSpPr>
          <p:nvPr>
            <p:ph type="pic" idx="2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63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63"/>
          <p:cNvSpPr txBox="1">
            <a:spLocks noGrp="1"/>
          </p:cNvSpPr>
          <p:nvPr>
            <p:ph type="subTitle" idx="1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74" name="Google Shape;474;p63"/>
          <p:cNvSpPr txBox="1">
            <a:spLocks noGrp="1"/>
          </p:cNvSpPr>
          <p:nvPr>
            <p:ph type="subTitle" idx="3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75" name="Google Shape;475;p63"/>
          <p:cNvSpPr txBox="1">
            <a:spLocks noGrp="1"/>
          </p:cNvSpPr>
          <p:nvPr>
            <p:ph type="subTitle" idx="4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76" name="Google Shape;476;p63"/>
          <p:cNvSpPr txBox="1">
            <a:spLocks noGrp="1"/>
          </p:cNvSpPr>
          <p:nvPr>
            <p:ph type="subTitle" idx="5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477" name="Google Shape;477;p63"/>
          <p:cNvSpPr txBox="1">
            <a:spLocks noGrp="1"/>
          </p:cNvSpPr>
          <p:nvPr>
            <p:ph type="subTitle" idx="6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78" name="Google Shape;478;p63"/>
          <p:cNvSpPr txBox="1">
            <a:spLocks noGrp="1"/>
          </p:cNvSpPr>
          <p:nvPr>
            <p:ph type="subTitle" idx="7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79" name="Google Shape;479;p63"/>
          <p:cNvSpPr txBox="1">
            <a:spLocks noGrp="1"/>
          </p:cNvSpPr>
          <p:nvPr>
            <p:ph type="subTitle" idx="8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80" name="Google Shape;480;p63"/>
          <p:cNvSpPr txBox="1">
            <a:spLocks noGrp="1"/>
          </p:cNvSpPr>
          <p:nvPr>
            <p:ph type="subTitle" idx="9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>
            <a:endParaRPr/>
          </a:p>
        </p:txBody>
      </p:sp>
      <p:sp>
        <p:nvSpPr>
          <p:cNvPr id="481" name="Google Shape;481;p63"/>
          <p:cNvSpPr>
            <a:spLocks noGrp="1"/>
          </p:cNvSpPr>
          <p:nvPr>
            <p:ph type="pic" idx="13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63"/>
          <p:cNvSpPr>
            <a:spLocks noGrp="1"/>
          </p:cNvSpPr>
          <p:nvPr>
            <p:ph type="pic" idx="14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63"/>
          <p:cNvSpPr>
            <a:spLocks noGrp="1"/>
          </p:cNvSpPr>
          <p:nvPr>
            <p:ph type="pic" idx="15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ok 1 1">
  <p:cSld name="Storybook 1 (g3d8a89d1b2b_75_0)">
    <p:bg>
      <p:bgPr>
        <a:solidFill>
          <a:schemeClr val="dk2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4"/>
          <p:cNvSpPr>
            <a:spLocks noGrp="1"/>
          </p:cNvSpPr>
          <p:nvPr>
            <p:ph type="pic" idx="2"/>
          </p:nvPr>
        </p:nvSpPr>
        <p:spPr>
          <a:xfrm>
            <a:off x="4676850" y="279050"/>
            <a:ext cx="4201200" cy="4573800"/>
          </a:xfrm>
          <a:prstGeom prst="roundRect">
            <a:avLst>
              <a:gd name="adj" fmla="val 482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64"/>
          <p:cNvSpPr txBox="1">
            <a:spLocks noGrp="1"/>
          </p:cNvSpPr>
          <p:nvPr>
            <p:ph type="body" idx="1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87" name="Google Shape;487;p64"/>
          <p:cNvSpPr txBox="1">
            <a:spLocks noGrp="1"/>
          </p:cNvSpPr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488" name="Google Shape;488;p64"/>
          <p:cNvSpPr txBox="1">
            <a:spLocks noGrp="1"/>
          </p:cNvSpPr>
          <p:nvPr>
            <p:ph type="subTitle" idx="3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1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ok 3 1">
  <p:cSld name="Storybook 3 (g3d8a89d1b2b_82_0)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>
            <a:spLocks noGrp="1"/>
          </p:cNvSpPr>
          <p:nvPr>
            <p:ph type="body" idx="1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91" name="Google Shape;491;p65"/>
          <p:cNvSpPr txBox="1">
            <a:spLocks noGrp="1"/>
          </p:cNvSpPr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>
            <a:endParaRPr/>
          </a:p>
        </p:txBody>
      </p:sp>
      <p:sp>
        <p:nvSpPr>
          <p:cNvPr id="492" name="Google Shape;492;p65"/>
          <p:cNvSpPr txBox="1">
            <a:spLocks noGrp="1"/>
          </p:cNvSpPr>
          <p:nvPr>
            <p:ph type="subTitle" idx="2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sz="11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65"/>
          <p:cNvSpPr txBox="1">
            <a:spLocks noGrp="1"/>
          </p:cNvSpPr>
          <p:nvPr>
            <p:ph type="subTitle" idx="3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Cover with Names 1">
  <p:cSld name="End Cover with Names (g3d8a89d1b2b_89_0)">
    <p:bg>
      <p:bgPr>
        <a:solidFill>
          <a:schemeClr val="lt2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6"/>
          <p:cNvSpPr>
            <a:spLocks noGrp="1"/>
          </p:cNvSpPr>
          <p:nvPr>
            <p:ph type="pic" idx="2"/>
          </p:nvPr>
        </p:nvSpPr>
        <p:spPr>
          <a:xfrm>
            <a:off x="274950" y="3235225"/>
            <a:ext cx="4191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66"/>
          <p:cNvSpPr txBox="1">
            <a:spLocks noGrp="1"/>
          </p:cNvSpPr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>
            <a:endParaRPr/>
          </a:p>
        </p:txBody>
      </p:sp>
      <p:sp>
        <p:nvSpPr>
          <p:cNvPr id="497" name="Google Shape;497;p66"/>
          <p:cNvSpPr txBox="1">
            <a:spLocks noGrp="1"/>
          </p:cNvSpPr>
          <p:nvPr>
            <p:ph type="subTitle" idx="1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66"/>
          <p:cNvSpPr>
            <a:spLocks noGrp="1"/>
          </p:cNvSpPr>
          <p:nvPr>
            <p:ph type="pic" idx="3"/>
          </p:nvPr>
        </p:nvSpPr>
        <p:spPr>
          <a:xfrm>
            <a:off x="274950" y="284975"/>
            <a:ext cx="8598900" cy="1623300"/>
          </a:xfrm>
          <a:prstGeom prst="roundRect">
            <a:avLst>
              <a:gd name="adj" fmla="val 144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sz="4200" b="1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>
            <a:spLocks noGrp="1"/>
          </p:cNvSpPr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East Asian Cuisine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Assistant</a:t>
            </a:r>
            <a:endParaRPr/>
          </a:p>
        </p:txBody>
      </p:sp>
      <p:sp>
        <p:nvSpPr>
          <p:cNvPr id="504" name="Google Shape;504;p67"/>
          <p:cNvSpPr txBox="1">
            <a:spLocks noGrp="1"/>
          </p:cNvSpPr>
          <p:nvPr>
            <p:ph type="subTitle" idx="1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COMP64702: Transform Text into Meaning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5" name="Google Shape;505;p67"/>
          <p:cNvSpPr txBox="1">
            <a:spLocks noGrp="1"/>
          </p:cNvSpPr>
          <p:nvPr>
            <p:ph type="subTitle" idx="2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Kavin Sundarr  |  Rohan Inamdar  |  Deepen Khandelwal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6" name="Google Shape;50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925" y="2971100"/>
            <a:ext cx="3779075" cy="1313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68"/>
          <p:cNvSpPr/>
          <p:nvPr/>
        </p:nvSpPr>
        <p:spPr>
          <a:xfrm>
            <a:off x="274950" y="1348121"/>
            <a:ext cx="4201200" cy="3510600"/>
          </a:xfrm>
          <a:prstGeom prst="roundRect">
            <a:avLst>
              <a:gd name="adj" fmla="val 5733"/>
            </a:avLst>
          </a:prstGeom>
          <a:solidFill>
            <a:srgbClr val="E6C2D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68"/>
          <p:cNvSpPr/>
          <p:nvPr/>
        </p:nvSpPr>
        <p:spPr>
          <a:xfrm>
            <a:off x="4667850" y="1348121"/>
            <a:ext cx="4201200" cy="3510600"/>
          </a:xfrm>
          <a:prstGeom prst="roundRect">
            <a:avLst>
              <a:gd name="adj" fmla="val 5733"/>
            </a:avLst>
          </a:prstGeom>
          <a:solidFill>
            <a:srgbClr val="E6C2D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8"/>
          <p:cNvSpPr txBox="1">
            <a:spLocks noGrp="1"/>
          </p:cNvSpPr>
          <p:nvPr>
            <p:ph type="body" idx="1"/>
          </p:nvPr>
        </p:nvSpPr>
        <p:spPr>
          <a:xfrm>
            <a:off x="4837550" y="1982450"/>
            <a:ext cx="3754200" cy="25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Retrieves relevant documents first</a:t>
            </a:r>
            <a:endParaRPr sz="1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Answers grounded in curated corpus</a:t>
            </a:r>
            <a:endParaRPr sz="1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Domain-specialised knowledge base</a:t>
            </a:r>
            <a:endParaRPr sz="1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Hallucination rate reduced to 10.9%</a:t>
            </a:r>
            <a:endParaRPr sz="17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15" name="Google Shape;515;p68"/>
          <p:cNvSpPr txBox="1">
            <a:spLocks noGrp="1"/>
          </p:cNvSpPr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LLM Problem</a:t>
            </a:r>
            <a:endParaRPr/>
          </a:p>
        </p:txBody>
      </p:sp>
      <p:sp>
        <p:nvSpPr>
          <p:cNvPr id="516" name="Google Shape;516;p68"/>
          <p:cNvSpPr/>
          <p:nvPr/>
        </p:nvSpPr>
        <p:spPr>
          <a:xfrm>
            <a:off x="1522650" y="1517200"/>
            <a:ext cx="1705800" cy="3618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LLM Only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68"/>
          <p:cNvSpPr/>
          <p:nvPr/>
        </p:nvSpPr>
        <p:spPr>
          <a:xfrm>
            <a:off x="5861750" y="1517200"/>
            <a:ext cx="1705800" cy="3618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RAG system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8" name="Google Shape;518;p68"/>
          <p:cNvSpPr txBox="1">
            <a:spLocks noGrp="1"/>
          </p:cNvSpPr>
          <p:nvPr>
            <p:ph type="body" idx="1"/>
          </p:nvPr>
        </p:nvSpPr>
        <p:spPr>
          <a:xfrm>
            <a:off x="498450" y="2044379"/>
            <a:ext cx="3754200" cy="25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Hallucinations</a:t>
            </a: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occur,</a:t>
            </a: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confident but can give wrong answers</a:t>
            </a:r>
            <a:endParaRPr sz="1700"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Knowledge cutoff </a:t>
            </a:r>
            <a:r>
              <a:rPr lang="en" sz="17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lacks up-to-date or niche info</a:t>
            </a:r>
            <a:endParaRPr sz="1700"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 domain specialisation</a:t>
            </a:r>
            <a:endParaRPr sz="1700"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800"/>
              </a:spcAft>
              <a:buClr>
                <a:srgbClr val="1E293B"/>
              </a:buClr>
              <a:buSzPts val="1700"/>
              <a:buFont typeface="Arial"/>
              <a:buChar char="●"/>
            </a:pPr>
            <a:r>
              <a:rPr lang="en" sz="17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Cannot access curated documents</a:t>
            </a:r>
            <a:endParaRPr sz="1700" b="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68"/>
          <p:cNvCxnSpPr>
            <a:endCxn id="517" idx="1"/>
          </p:cNvCxnSpPr>
          <p:nvPr/>
        </p:nvCxnSpPr>
        <p:spPr>
          <a:xfrm>
            <a:off x="3228350" y="1698100"/>
            <a:ext cx="2633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9"/>
          <p:cNvSpPr/>
          <p:nvPr/>
        </p:nvSpPr>
        <p:spPr>
          <a:xfrm>
            <a:off x="4303925" y="3683575"/>
            <a:ext cx="4174800" cy="1268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6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name="adj" fmla="val 25275"/>
            </a:avLst>
          </a:prstGeom>
          <a:solidFill>
            <a:srgbClr val="FD5E4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69"/>
          <p:cNvSpPr txBox="1"/>
          <p:nvPr/>
        </p:nvSpPr>
        <p:spPr>
          <a:xfrm>
            <a:off x="276225" y="285750"/>
            <a:ext cx="8601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latin typeface="Della Respira"/>
                <a:ea typeface="Della Respira"/>
                <a:cs typeface="Della Respira"/>
                <a:sym typeface="Della Respira"/>
              </a:rPr>
              <a:t>Dataset &amp; Benchmark</a:t>
            </a:r>
            <a:endParaRPr sz="4200" b="1">
              <a:solidFill>
                <a:srgbClr val="000000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graphicFrame>
        <p:nvGraphicFramePr>
          <p:cNvPr id="527" name="Google Shape;527;p69"/>
          <p:cNvGraphicFramePr/>
          <p:nvPr/>
        </p:nvGraphicFramePr>
        <p:xfrm>
          <a:off x="422000" y="2571750"/>
          <a:ext cx="3733100" cy="2424520"/>
        </p:xfrm>
        <a:graphic>
          <a:graphicData uri="http://schemas.openxmlformats.org/drawingml/2006/table">
            <a:tbl>
              <a:tblPr>
                <a:noFill/>
                <a:tableStyleId>{12ED2331-044A-4BCB-BE91-CD30B30C1B7B}</a:tableStyleId>
              </a:tblPr>
              <a:tblGrid>
                <a:gridCol w="11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Source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Docs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Words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Licence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Wikipedia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184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252,937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CC-BY-SA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Wikibooks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7,901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CC-BY-SA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 cuisines Blog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57,977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Public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Total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237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~318,000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Open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8" name="Google Shape;528;p69"/>
          <p:cNvSpPr txBox="1"/>
          <p:nvPr/>
        </p:nvSpPr>
        <p:spPr>
          <a:xfrm>
            <a:off x="4644100" y="2380400"/>
            <a:ext cx="20529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M Sans"/>
                <a:ea typeface="DM Sans"/>
                <a:cs typeface="DM Sans"/>
                <a:sym typeface="DM Sans"/>
              </a:rPr>
              <a:t>5 Question Types:</a:t>
            </a:r>
            <a:endParaRPr sz="16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69"/>
          <p:cNvSpPr/>
          <p:nvPr/>
        </p:nvSpPr>
        <p:spPr>
          <a:xfrm>
            <a:off x="4303926" y="2772425"/>
            <a:ext cx="1557000" cy="39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Factual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0" name="Google Shape;530;p69"/>
          <p:cNvSpPr/>
          <p:nvPr/>
        </p:nvSpPr>
        <p:spPr>
          <a:xfrm>
            <a:off x="5900275" y="2772425"/>
            <a:ext cx="1557000" cy="3921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Ingredient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1" name="Google Shape;531;p69"/>
          <p:cNvSpPr/>
          <p:nvPr/>
        </p:nvSpPr>
        <p:spPr>
          <a:xfrm>
            <a:off x="7496625" y="2772425"/>
            <a:ext cx="1557000" cy="392100"/>
          </a:xfrm>
          <a:prstGeom prst="roundRect">
            <a:avLst>
              <a:gd name="adj" fmla="val 16667"/>
            </a:avLst>
          </a:prstGeom>
          <a:solidFill>
            <a:srgbClr val="F6B2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Cultural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2" name="Google Shape;532;p69"/>
          <p:cNvSpPr/>
          <p:nvPr/>
        </p:nvSpPr>
        <p:spPr>
          <a:xfrm>
            <a:off x="5900275" y="3228000"/>
            <a:ext cx="1557000" cy="392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Procedural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69"/>
          <p:cNvSpPr/>
          <p:nvPr/>
        </p:nvSpPr>
        <p:spPr>
          <a:xfrm>
            <a:off x="4303925" y="3228000"/>
            <a:ext cx="1557000" cy="3921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Comparative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405950" y="1630700"/>
            <a:ext cx="1084200" cy="7497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237</a:t>
            </a:r>
            <a:endParaRPr sz="23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Documents</a:t>
            </a:r>
            <a:endParaRPr sz="1200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5" name="Google Shape;535;p69"/>
          <p:cNvSpPr/>
          <p:nvPr/>
        </p:nvSpPr>
        <p:spPr>
          <a:xfrm>
            <a:off x="1746450" y="1630700"/>
            <a:ext cx="1084200" cy="7497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318K</a:t>
            </a:r>
            <a:endParaRPr sz="23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Words</a:t>
            </a:r>
            <a:endParaRPr sz="1200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6" name="Google Shape;536;p69"/>
          <p:cNvSpPr/>
          <p:nvPr/>
        </p:nvSpPr>
        <p:spPr>
          <a:xfrm>
            <a:off x="3086950" y="1630700"/>
            <a:ext cx="1084200" cy="7497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23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FFFF"/>
                </a:solidFill>
                <a:latin typeface="DM Sans"/>
                <a:ea typeface="DM Sans"/>
                <a:cs typeface="DM Sans"/>
                <a:sym typeface="DM Sans"/>
              </a:rPr>
              <a:t>Sources</a:t>
            </a:r>
            <a:endParaRPr sz="1200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69"/>
          <p:cNvSpPr/>
          <p:nvPr/>
        </p:nvSpPr>
        <p:spPr>
          <a:xfrm>
            <a:off x="4776775" y="1630700"/>
            <a:ext cx="1084200" cy="7497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116</a:t>
            </a:r>
            <a:endParaRPr sz="2300" b="1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QA Pairs</a:t>
            </a:r>
            <a:endParaRPr sz="12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69"/>
          <p:cNvSpPr/>
          <p:nvPr/>
        </p:nvSpPr>
        <p:spPr>
          <a:xfrm>
            <a:off x="6117025" y="1630700"/>
            <a:ext cx="1084200" cy="7497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92</a:t>
            </a:r>
            <a:endParaRPr sz="2300" b="1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Train</a:t>
            </a:r>
            <a:endParaRPr sz="12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7457275" y="1630700"/>
            <a:ext cx="1084200" cy="7497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24</a:t>
            </a:r>
            <a:endParaRPr sz="2300" b="1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Test</a:t>
            </a:r>
            <a:endParaRPr sz="12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69"/>
          <p:cNvSpPr txBox="1"/>
          <p:nvPr/>
        </p:nvSpPr>
        <p:spPr>
          <a:xfrm>
            <a:off x="276225" y="1143150"/>
            <a:ext cx="20529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M Sans"/>
                <a:ea typeface="DM Sans"/>
                <a:cs typeface="DM Sans"/>
                <a:sym typeface="DM Sans"/>
              </a:rPr>
              <a:t>Knowledge Base:</a:t>
            </a:r>
            <a:endParaRPr sz="16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69"/>
          <p:cNvSpPr txBox="1"/>
          <p:nvPr/>
        </p:nvSpPr>
        <p:spPr>
          <a:xfrm>
            <a:off x="4788299" y="1143150"/>
            <a:ext cx="2952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M Sans"/>
                <a:ea typeface="DM Sans"/>
                <a:cs typeface="DM Sans"/>
                <a:sym typeface="DM Sans"/>
              </a:rPr>
              <a:t>RAG Benchmark Dataset:</a:t>
            </a:r>
            <a:endParaRPr sz="16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2" name="Google Shape;542;p69"/>
          <p:cNvSpPr txBox="1"/>
          <p:nvPr/>
        </p:nvSpPr>
        <p:spPr>
          <a:xfrm>
            <a:off x="4303925" y="3683575"/>
            <a:ext cx="2393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How it was built: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3" name="Google Shape;543;p69"/>
          <p:cNvSpPr txBox="1"/>
          <p:nvPr/>
        </p:nvSpPr>
        <p:spPr>
          <a:xfrm>
            <a:off x="4171150" y="4023950"/>
            <a:ext cx="43362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 sz="1200" b="1">
                <a:latin typeface="DM Sans"/>
                <a:ea typeface="DM Sans"/>
                <a:cs typeface="DM Sans"/>
                <a:sym typeface="DM Sans"/>
              </a:rPr>
              <a:t>LLM-Assessed annotation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 - Qwen 2.5 generated QA pairs from documents.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 sz="1200" b="1">
                <a:latin typeface="DM Sans"/>
                <a:ea typeface="DM Sans"/>
                <a:cs typeface="DM Sans"/>
                <a:sym typeface="DM Sans"/>
              </a:rPr>
              <a:t>Manual Pairs Added </a:t>
            </a:r>
            <a:r>
              <a:rPr lang="en" sz="1200">
                <a:latin typeface="DM Sans"/>
                <a:ea typeface="DM Sans"/>
                <a:cs typeface="DM Sans"/>
                <a:sym typeface="DM Sans"/>
              </a:rPr>
              <a:t>- Comparative &amp; multi-hop types used for cross doc reasoning.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0"/>
          <p:cNvSpPr txBox="1"/>
          <p:nvPr/>
        </p:nvSpPr>
        <p:spPr>
          <a:xfrm>
            <a:off x="190750" y="76750"/>
            <a:ext cx="8601000" cy="857400"/>
          </a:xfrm>
          <a:prstGeom prst="rect">
            <a:avLst/>
          </a:prstGeom>
          <a:solidFill>
            <a:srgbClr val="F3DFA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latin typeface="Della Respira"/>
                <a:ea typeface="Della Respira"/>
                <a:cs typeface="Della Respira"/>
                <a:sym typeface="Della Respira"/>
              </a:rPr>
              <a:t>System Architecture</a:t>
            </a:r>
            <a:endParaRPr sz="4200" b="1" i="0">
              <a:solidFill>
                <a:srgbClr val="000000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549" name="Google Shape;549;p70"/>
          <p:cNvSpPr/>
          <p:nvPr/>
        </p:nvSpPr>
        <p:spPr>
          <a:xfrm>
            <a:off x="1592150" y="1152300"/>
            <a:ext cx="6009300" cy="3794100"/>
          </a:xfrm>
          <a:prstGeom prst="rect">
            <a:avLst/>
          </a:prstGeom>
          <a:solidFill>
            <a:srgbClr val="3D85C6"/>
          </a:solidFill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0" name="Google Shape;550;p70"/>
          <p:cNvSpPr txBox="1"/>
          <p:nvPr/>
        </p:nvSpPr>
        <p:spPr>
          <a:xfrm>
            <a:off x="1592250" y="1152300"/>
            <a:ext cx="6009300" cy="43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Offline Ingestion (once)</a:t>
            </a:r>
            <a:endParaRPr sz="16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1" name="Google Shape;551;p70"/>
          <p:cNvSpPr/>
          <p:nvPr/>
        </p:nvSpPr>
        <p:spPr>
          <a:xfrm>
            <a:off x="249345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237 Docs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318K words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2" name="Google Shape;552;p70"/>
          <p:cNvSpPr/>
          <p:nvPr/>
        </p:nvSpPr>
        <p:spPr>
          <a:xfrm>
            <a:off x="35800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Semantic Chunker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70"/>
          <p:cNvSpPr/>
          <p:nvPr/>
        </p:nvSpPr>
        <p:spPr>
          <a:xfrm>
            <a:off x="46385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BGE Embedder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70"/>
          <p:cNvSpPr/>
          <p:nvPr/>
        </p:nvSpPr>
        <p:spPr>
          <a:xfrm>
            <a:off x="56970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FAISS + BM25 Index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55" name="Google Shape;555;p70"/>
          <p:cNvCxnSpPr>
            <a:stCxn id="551" idx="3"/>
            <a:endCxn id="552" idx="1"/>
          </p:cNvCxnSpPr>
          <p:nvPr/>
        </p:nvCxnSpPr>
        <p:spPr>
          <a:xfrm>
            <a:off x="338145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56" name="Google Shape;556;p70"/>
          <p:cNvCxnSpPr/>
          <p:nvPr/>
        </p:nvCxnSpPr>
        <p:spPr>
          <a:xfrm>
            <a:off x="447270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57" name="Google Shape;557;p70"/>
          <p:cNvCxnSpPr/>
          <p:nvPr/>
        </p:nvCxnSpPr>
        <p:spPr>
          <a:xfrm>
            <a:off x="549840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58" name="Google Shape;558;p70"/>
          <p:cNvSpPr txBox="1"/>
          <p:nvPr/>
        </p:nvSpPr>
        <p:spPr>
          <a:xfrm>
            <a:off x="2839425" y="2374725"/>
            <a:ext cx="3528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chemeClr val="dk1"/>
                </a:solidFill>
              </a:rPr>
              <a:t>3,356 chunks · 384-dim embeddings · Saved to disk</a:t>
            </a:r>
            <a:endParaRPr sz="10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9" name="Google Shape;559;p70"/>
          <p:cNvSpPr txBox="1"/>
          <p:nvPr/>
        </p:nvSpPr>
        <p:spPr>
          <a:xfrm>
            <a:off x="2583900" y="2605400"/>
            <a:ext cx="39762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Semantic Chunker: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Splits on topic boundaries detected via cosine similarity, not a particular word count.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BGE Embedder: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Retrieval is optimised through contrastive training, useful for QA tasks.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FAISS: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 It finds conceptually similar content even when the exact words don't match.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BM25 Index: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Keyword based retrieval it catches exact ingredient names and dish terms that dense search can miss.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1"/>
          <p:cNvSpPr txBox="1"/>
          <p:nvPr/>
        </p:nvSpPr>
        <p:spPr>
          <a:xfrm>
            <a:off x="190750" y="76750"/>
            <a:ext cx="8601000" cy="857400"/>
          </a:xfrm>
          <a:prstGeom prst="rect">
            <a:avLst/>
          </a:prstGeom>
          <a:solidFill>
            <a:srgbClr val="F3DFA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latin typeface="Della Respira"/>
                <a:ea typeface="Della Respira"/>
                <a:cs typeface="Della Respira"/>
                <a:sym typeface="Della Respira"/>
              </a:rPr>
              <a:t>System Architecture</a:t>
            </a:r>
            <a:endParaRPr sz="4200" b="1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565" name="Google Shape;565;p71"/>
          <p:cNvSpPr/>
          <p:nvPr/>
        </p:nvSpPr>
        <p:spPr>
          <a:xfrm>
            <a:off x="1592150" y="1152300"/>
            <a:ext cx="6009300" cy="3794100"/>
          </a:xfrm>
          <a:prstGeom prst="rect">
            <a:avLst/>
          </a:prstGeom>
          <a:solidFill>
            <a:srgbClr val="3D85C6"/>
          </a:solidFill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71"/>
          <p:cNvSpPr txBox="1"/>
          <p:nvPr/>
        </p:nvSpPr>
        <p:spPr>
          <a:xfrm>
            <a:off x="1592250" y="1152300"/>
            <a:ext cx="6009300" cy="43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Offline Ingestion (once)</a:t>
            </a:r>
            <a:endParaRPr sz="16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7" name="Google Shape;567;p71"/>
          <p:cNvSpPr/>
          <p:nvPr/>
        </p:nvSpPr>
        <p:spPr>
          <a:xfrm>
            <a:off x="249345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237 Docs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318K words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71"/>
          <p:cNvSpPr/>
          <p:nvPr/>
        </p:nvSpPr>
        <p:spPr>
          <a:xfrm>
            <a:off x="35800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Semantic Chunker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9" name="Google Shape;569;p71"/>
          <p:cNvSpPr/>
          <p:nvPr/>
        </p:nvSpPr>
        <p:spPr>
          <a:xfrm>
            <a:off x="46385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BGE Embedder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0" name="Google Shape;570;p71"/>
          <p:cNvSpPr/>
          <p:nvPr/>
        </p:nvSpPr>
        <p:spPr>
          <a:xfrm>
            <a:off x="5697000" y="1728925"/>
            <a:ext cx="888000" cy="553500"/>
          </a:xfrm>
          <a:prstGeom prst="rect">
            <a:avLst/>
          </a:prstGeom>
          <a:solidFill>
            <a:srgbClr val="9FC5E8"/>
          </a:solidFill>
          <a:ln w="1905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FAISS + BM25 Index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71" name="Google Shape;571;p71"/>
          <p:cNvCxnSpPr>
            <a:stCxn id="567" idx="3"/>
            <a:endCxn id="568" idx="1"/>
          </p:cNvCxnSpPr>
          <p:nvPr/>
        </p:nvCxnSpPr>
        <p:spPr>
          <a:xfrm>
            <a:off x="338145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72" name="Google Shape;572;p71"/>
          <p:cNvCxnSpPr/>
          <p:nvPr/>
        </p:nvCxnSpPr>
        <p:spPr>
          <a:xfrm>
            <a:off x="447270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73" name="Google Shape;573;p71"/>
          <p:cNvCxnSpPr/>
          <p:nvPr/>
        </p:nvCxnSpPr>
        <p:spPr>
          <a:xfrm>
            <a:off x="5498400" y="2005675"/>
            <a:ext cx="198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74" name="Google Shape;574;p71"/>
          <p:cNvSpPr txBox="1"/>
          <p:nvPr/>
        </p:nvSpPr>
        <p:spPr>
          <a:xfrm>
            <a:off x="2839425" y="2374725"/>
            <a:ext cx="3528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</a:rPr>
              <a:t>3,356 chunks · 384-dim embeddings · Saved to disk</a:t>
            </a:r>
            <a:endParaRPr sz="10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71"/>
          <p:cNvSpPr txBox="1"/>
          <p:nvPr/>
        </p:nvSpPr>
        <p:spPr>
          <a:xfrm>
            <a:off x="2583900" y="2605400"/>
            <a:ext cx="39762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Semantic Chunker: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Splits on topic boundaries detected via cosine similarity, not a particular word count.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BGE Embedder: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Retrieval is optimised through contrastive training, useful for QA tasks.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FAISS: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 It finds conceptually similar content even when the exact words don't match.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M Sans"/>
              <a:buChar char="●"/>
            </a:pPr>
            <a:r>
              <a:rPr lang="en" sz="11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BM25 Index: </a:t>
            </a:r>
            <a:r>
              <a:rPr lang="en" sz="1100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Keyword based retrieval it catches exact ingredient names and dish terms that dense search can miss.</a:t>
            </a:r>
            <a:endParaRPr sz="1100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6" name="Google Shape;57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51" y="1065463"/>
            <a:ext cx="7986699" cy="3967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2"/>
          <p:cNvSpPr/>
          <p:nvPr/>
        </p:nvSpPr>
        <p:spPr>
          <a:xfrm>
            <a:off x="1028700" y="212200"/>
            <a:ext cx="7277100" cy="96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2" name="Google Shape;582;p72"/>
          <p:cNvSpPr txBox="1"/>
          <p:nvPr/>
        </p:nvSpPr>
        <p:spPr>
          <a:xfrm>
            <a:off x="1443875" y="220300"/>
            <a:ext cx="64008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latin typeface="Della Respira"/>
                <a:ea typeface="Della Respira"/>
                <a:cs typeface="Della Respira"/>
                <a:sym typeface="Della Respira"/>
              </a:rPr>
              <a:t>What we Compared</a:t>
            </a:r>
            <a:endParaRPr sz="4200" b="1">
              <a:solidFill>
                <a:srgbClr val="000000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583" name="Google Shape;583;p72"/>
          <p:cNvSpPr/>
          <p:nvPr/>
        </p:nvSpPr>
        <p:spPr>
          <a:xfrm>
            <a:off x="163950" y="1376975"/>
            <a:ext cx="4407900" cy="17067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4" name="Google Shape;584;p72"/>
          <p:cNvSpPr/>
          <p:nvPr/>
        </p:nvSpPr>
        <p:spPr>
          <a:xfrm>
            <a:off x="4650025" y="1376975"/>
            <a:ext cx="4324500" cy="170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72"/>
          <p:cNvSpPr/>
          <p:nvPr/>
        </p:nvSpPr>
        <p:spPr>
          <a:xfrm>
            <a:off x="163950" y="3224575"/>
            <a:ext cx="4407900" cy="170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72"/>
          <p:cNvSpPr/>
          <p:nvPr/>
        </p:nvSpPr>
        <p:spPr>
          <a:xfrm>
            <a:off x="4608325" y="3224575"/>
            <a:ext cx="4407900" cy="17067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7" name="Google Shape;587;p72"/>
          <p:cNvSpPr/>
          <p:nvPr/>
        </p:nvSpPr>
        <p:spPr>
          <a:xfrm>
            <a:off x="163750" y="1381592"/>
            <a:ext cx="4407900" cy="311400"/>
          </a:xfrm>
          <a:prstGeom prst="rect">
            <a:avLst/>
          </a:prstGeom>
          <a:solidFill>
            <a:srgbClr val="3C78D8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Chunking:</a:t>
            </a:r>
            <a:endParaRPr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8" name="Google Shape;588;p72"/>
          <p:cNvSpPr txBox="1"/>
          <p:nvPr/>
        </p:nvSpPr>
        <p:spPr>
          <a:xfrm>
            <a:off x="175300" y="1716050"/>
            <a:ext cx="4407900" cy="13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DM Sans"/>
                <a:ea typeface="DM Sans"/>
                <a:cs typeface="DM Sans"/>
                <a:sym typeface="DM Sans"/>
              </a:rPr>
              <a:t>Tried: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256words, 512 words, Sentenced based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Winner: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Semantic Chunking (threshold=0.45)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Detects topic boundaries through cosine similarity</a:t>
            </a:r>
            <a:endParaRPr sz="1200" i="1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📊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Most impactful component: −0.192 ROUGE-L 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72"/>
          <p:cNvSpPr/>
          <p:nvPr/>
        </p:nvSpPr>
        <p:spPr>
          <a:xfrm>
            <a:off x="4650225" y="1376975"/>
            <a:ext cx="4407900" cy="17067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72"/>
          <p:cNvSpPr/>
          <p:nvPr/>
        </p:nvSpPr>
        <p:spPr>
          <a:xfrm>
            <a:off x="4650025" y="1381592"/>
            <a:ext cx="4407900" cy="311400"/>
          </a:xfrm>
          <a:prstGeom prst="rect">
            <a:avLst/>
          </a:prstGeom>
          <a:solidFill>
            <a:srgbClr val="3C78D8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Embedding:</a:t>
            </a:r>
            <a:endParaRPr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1" name="Google Shape;591;p72"/>
          <p:cNvSpPr txBox="1"/>
          <p:nvPr/>
        </p:nvSpPr>
        <p:spPr>
          <a:xfrm>
            <a:off x="4661575" y="1716050"/>
            <a:ext cx="4407900" cy="13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DM Sans"/>
                <a:ea typeface="DM Sans"/>
                <a:cs typeface="DM Sans"/>
                <a:sym typeface="DM Sans"/>
              </a:rPr>
              <a:t>Tried: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MiniLM-L6-v2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Winner: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BAAI/bge-small-en-v1.5 (384 dim)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Retrieval is optimised through contrastive training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📊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Better semantic similarity for QA retrieval 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2" name="Google Shape;592;p72"/>
          <p:cNvSpPr/>
          <p:nvPr/>
        </p:nvSpPr>
        <p:spPr>
          <a:xfrm>
            <a:off x="158175" y="3224575"/>
            <a:ext cx="4407900" cy="17067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3" name="Google Shape;593;p72"/>
          <p:cNvSpPr/>
          <p:nvPr/>
        </p:nvSpPr>
        <p:spPr>
          <a:xfrm>
            <a:off x="157975" y="3229192"/>
            <a:ext cx="4407900" cy="311400"/>
          </a:xfrm>
          <a:prstGeom prst="rect">
            <a:avLst/>
          </a:prstGeom>
          <a:solidFill>
            <a:srgbClr val="3C78D8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Retrieval:</a:t>
            </a:r>
            <a:endParaRPr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4" name="Google Shape;594;p72"/>
          <p:cNvSpPr txBox="1"/>
          <p:nvPr/>
        </p:nvSpPr>
        <p:spPr>
          <a:xfrm>
            <a:off x="169525" y="3563650"/>
            <a:ext cx="4407900" cy="13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DM Sans"/>
                <a:ea typeface="DM Sans"/>
                <a:cs typeface="DM Sans"/>
                <a:sym typeface="DM Sans"/>
              </a:rPr>
              <a:t>Tried: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FAISS (dense only), BM25 (sparse)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Winner: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Hybrid + RRF + Cross-Encoder Reranker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RRF fuses ranked lists without score normalisation issues</a:t>
            </a:r>
            <a:endParaRPr sz="1200" i="1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📊 ROUGE-L: 0.353 vs BM25-only: 0.281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5" name="Google Shape;595;p72"/>
          <p:cNvSpPr/>
          <p:nvPr/>
        </p:nvSpPr>
        <p:spPr>
          <a:xfrm>
            <a:off x="4644450" y="3224575"/>
            <a:ext cx="4407900" cy="17067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72"/>
          <p:cNvSpPr/>
          <p:nvPr/>
        </p:nvSpPr>
        <p:spPr>
          <a:xfrm>
            <a:off x="4644250" y="3229192"/>
            <a:ext cx="4407900" cy="311400"/>
          </a:xfrm>
          <a:prstGeom prst="rect">
            <a:avLst/>
          </a:prstGeom>
          <a:solidFill>
            <a:srgbClr val="3C78D8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Prompting:</a:t>
            </a:r>
            <a:endParaRPr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7" name="Google Shape;597;p72"/>
          <p:cNvSpPr txBox="1"/>
          <p:nvPr/>
        </p:nvSpPr>
        <p:spPr>
          <a:xfrm>
            <a:off x="4655800" y="3563650"/>
            <a:ext cx="4407900" cy="13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DM Sans"/>
                <a:ea typeface="DM Sans"/>
                <a:cs typeface="DM Sans"/>
                <a:sym typeface="DM Sans"/>
              </a:rPr>
              <a:t>Tried: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Zero-shot, Few-shot, Chain-of-thought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Winner: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Structured / Constrained Prompting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Explicit format constraints reduce hallucination risk</a:t>
            </a:r>
            <a:endParaRPr sz="1200" i="1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📊 ROUGE-L: 0.353 vs zero-shot: 0.219</a:t>
            </a:r>
            <a:endParaRPr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3"/>
          <p:cNvSpPr/>
          <p:nvPr/>
        </p:nvSpPr>
        <p:spPr>
          <a:xfrm>
            <a:off x="270862" y="0"/>
            <a:ext cx="8598900" cy="854400"/>
          </a:xfrm>
          <a:prstGeom prst="roundRect">
            <a:avLst>
              <a:gd name="adj" fmla="val 25275"/>
            </a:avLst>
          </a:prstGeom>
          <a:solidFill>
            <a:srgbClr val="FD5E4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73"/>
          <p:cNvSpPr txBox="1"/>
          <p:nvPr/>
        </p:nvSpPr>
        <p:spPr>
          <a:xfrm>
            <a:off x="272138" y="975"/>
            <a:ext cx="8601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latin typeface="Della Respira"/>
                <a:ea typeface="Della Respira"/>
                <a:cs typeface="Della Respira"/>
                <a:sym typeface="Della Respira"/>
              </a:rPr>
              <a:t>Results — RAG vs Baseline</a:t>
            </a:r>
            <a:endParaRPr sz="4200" b="1">
              <a:solidFill>
                <a:srgbClr val="000000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604" name="Google Shape;604;p73"/>
          <p:cNvSpPr txBox="1"/>
          <p:nvPr/>
        </p:nvSpPr>
        <p:spPr>
          <a:xfrm>
            <a:off x="6081563" y="2026200"/>
            <a:ext cx="20529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M Sans"/>
                <a:ea typeface="DM Sans"/>
                <a:cs typeface="DM Sans"/>
                <a:sym typeface="DM Sans"/>
              </a:rPr>
              <a:t>Retrieval Quality:</a:t>
            </a:r>
            <a:endParaRPr sz="16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5" name="Google Shape;605;p73"/>
          <p:cNvSpPr/>
          <p:nvPr/>
        </p:nvSpPr>
        <p:spPr>
          <a:xfrm>
            <a:off x="6935088" y="996300"/>
            <a:ext cx="1857000" cy="9723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p&lt;0.001</a:t>
            </a:r>
            <a:endParaRPr sz="2300" b="1">
              <a:solidFill>
                <a:srgbClr val="FF99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Statistical Significance (16 of 23 metrics)</a:t>
            </a:r>
            <a:endParaRPr sz="2300"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6" name="Google Shape;606;p73"/>
          <p:cNvSpPr/>
          <p:nvPr/>
        </p:nvSpPr>
        <p:spPr>
          <a:xfrm>
            <a:off x="4835913" y="990850"/>
            <a:ext cx="1857000" cy="9723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8E7CC3"/>
                </a:solidFill>
                <a:latin typeface="DM Sans"/>
                <a:ea typeface="DM Sans"/>
                <a:cs typeface="DM Sans"/>
                <a:sym typeface="DM Sans"/>
              </a:rPr>
              <a:t>20/23</a:t>
            </a:r>
            <a:endParaRPr sz="2300" b="1">
              <a:solidFill>
                <a:srgbClr val="8E7CC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Metrics Where RAG Wins</a:t>
            </a:r>
            <a:endParaRPr sz="2300"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7" name="Google Shape;607;p73"/>
          <p:cNvSpPr/>
          <p:nvPr/>
        </p:nvSpPr>
        <p:spPr>
          <a:xfrm>
            <a:off x="2663063" y="996300"/>
            <a:ext cx="1857000" cy="9723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FF00"/>
                </a:solidFill>
                <a:latin typeface="DM Sans"/>
                <a:ea typeface="DM Sans"/>
                <a:cs typeface="DM Sans"/>
                <a:sym typeface="DM Sans"/>
              </a:rPr>
              <a:t>10.9%</a:t>
            </a:r>
            <a:endParaRPr sz="2300" b="1">
              <a:solidFill>
                <a:srgbClr val="00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Hallucination Rate (down from 100%)</a:t>
            </a:r>
            <a:endParaRPr sz="2300"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73"/>
          <p:cNvSpPr/>
          <p:nvPr/>
        </p:nvSpPr>
        <p:spPr>
          <a:xfrm>
            <a:off x="490213" y="990850"/>
            <a:ext cx="1857000" cy="9723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3C78D8"/>
                </a:solidFill>
                <a:latin typeface="DM Sans"/>
                <a:ea typeface="DM Sans"/>
                <a:cs typeface="DM Sans"/>
                <a:sym typeface="DM Sans"/>
              </a:rPr>
              <a:t>+469%</a:t>
            </a:r>
            <a:endParaRPr sz="2300" b="1">
              <a:solidFill>
                <a:srgbClr val="3C78D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00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Bleu-4 improvement</a:t>
            </a:r>
            <a:endParaRPr sz="1100" i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09" name="Google Shape;609;p73"/>
          <p:cNvGraphicFramePr/>
          <p:nvPr>
            <p:extLst>
              <p:ext uri="{D42A27DB-BD31-4B8C-83A1-F6EECF244321}">
                <p14:modId xmlns:p14="http://schemas.microsoft.com/office/powerpoint/2010/main" val="970164767"/>
              </p:ext>
            </p:extLst>
          </p:nvPr>
        </p:nvGraphicFramePr>
        <p:xfrm>
          <a:off x="490225" y="2026200"/>
          <a:ext cx="5429925" cy="2956320"/>
        </p:xfrm>
        <a:graphic>
          <a:graphicData uri="http://schemas.openxmlformats.org/drawingml/2006/table">
            <a:tbl>
              <a:tblPr>
                <a:noFill/>
                <a:tableStyleId>{12ED2331-044A-4BCB-BE91-CD30B30C1B7B}</a:tableStyleId>
              </a:tblPr>
              <a:tblGrid>
                <a:gridCol w="157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EFEFEF"/>
                          </a:solidFill>
                        </a:rPr>
                        <a:t>Metric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EFEFEF"/>
                          </a:solidFill>
                        </a:rPr>
                        <a:t>Baseline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EFEFEF"/>
                          </a:solidFill>
                        </a:rPr>
                        <a:t>RAG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EFEFEF"/>
                          </a:solidFill>
                        </a:rPr>
                        <a:t>Improvement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BELU-4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0.025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0.139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+469%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ROUGE-L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0.154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0.328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+113%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BERTScore F1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0.782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0.833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+6.6%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METEOR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0.218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0.321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+46.8%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Answer F1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0.185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0.388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+82.4%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Faithfulness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FF0000"/>
                          </a:solidFill>
                        </a:rPr>
                        <a:t>0.113</a:t>
                      </a:r>
                      <a:endParaRPr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AA84F"/>
                          </a:solidFill>
                        </a:rPr>
                        <a:t>0.655</a:t>
                      </a:r>
                      <a:endParaRPr sz="1200">
                        <a:solidFill>
                          <a:srgbClr val="6AA84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AA84F"/>
                          </a:solidFill>
                        </a:rPr>
                        <a:t>+479%</a:t>
                      </a:r>
                      <a:endParaRPr sz="1200" dirty="0">
                        <a:solidFill>
                          <a:srgbClr val="6AA84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Hallucination rate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0000"/>
                          </a:solidFill>
                        </a:rPr>
                        <a:t>100%</a:t>
                      </a:r>
                      <a:endParaRPr sz="12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AA84F"/>
                          </a:solidFill>
                        </a:rPr>
                        <a:t>10.9%</a:t>
                      </a:r>
                      <a:endParaRPr sz="1200">
                        <a:solidFill>
                          <a:srgbClr val="6AA84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6AA84F"/>
                          </a:solidFill>
                        </a:rPr>
                        <a:t>+89.1%</a:t>
                      </a:r>
                      <a:endParaRPr sz="1200" dirty="0">
                        <a:solidFill>
                          <a:srgbClr val="6AA84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0" name="Google Shape;610;p73"/>
          <p:cNvSpPr/>
          <p:nvPr/>
        </p:nvSpPr>
        <p:spPr>
          <a:xfrm>
            <a:off x="6114525" y="2599425"/>
            <a:ext cx="2755200" cy="40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MRR@5:     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    0.908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1" name="Google Shape;611;p73"/>
          <p:cNvSpPr/>
          <p:nvPr/>
        </p:nvSpPr>
        <p:spPr>
          <a:xfrm>
            <a:off x="6114525" y="3153840"/>
            <a:ext cx="2755200" cy="40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Recall@5:         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0.978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73"/>
          <p:cNvSpPr/>
          <p:nvPr/>
        </p:nvSpPr>
        <p:spPr>
          <a:xfrm>
            <a:off x="6114525" y="3708265"/>
            <a:ext cx="2755200" cy="40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NDCG@5:       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  0.913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3" name="Google Shape;613;p73"/>
          <p:cNvSpPr/>
          <p:nvPr/>
        </p:nvSpPr>
        <p:spPr>
          <a:xfrm>
            <a:off x="6114525" y="4262690"/>
            <a:ext cx="2755200" cy="40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Latency:        </a:t>
            </a:r>
            <a:r>
              <a:rPr lang="en" b="1">
                <a:solidFill>
                  <a:srgbClr val="6AA84F"/>
                </a:solidFill>
                <a:latin typeface="DM Sans"/>
                <a:ea typeface="DM Sans"/>
                <a:cs typeface="DM Sans"/>
                <a:sym typeface="DM Sans"/>
              </a:rPr>
              <a:t>  ~12s</a:t>
            </a:r>
            <a:endParaRPr b="1">
              <a:solidFill>
                <a:srgbClr val="6AA8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4"/>
          <p:cNvSpPr/>
          <p:nvPr/>
        </p:nvSpPr>
        <p:spPr>
          <a:xfrm>
            <a:off x="279100" y="131475"/>
            <a:ext cx="8441700" cy="76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19" name="Google Shape;619;p74"/>
          <p:cNvGrpSpPr/>
          <p:nvPr/>
        </p:nvGrpSpPr>
        <p:grpSpPr>
          <a:xfrm>
            <a:off x="750475" y="131475"/>
            <a:ext cx="7620000" cy="762000"/>
            <a:chOff x="762000" y="381000"/>
            <a:chExt cx="7620000" cy="762000"/>
          </a:xfrm>
        </p:grpSpPr>
        <p:sp>
          <p:nvSpPr>
            <p:cNvPr id="620" name="Google Shape;620;p74"/>
            <p:cNvSpPr/>
            <p:nvPr/>
          </p:nvSpPr>
          <p:spPr>
            <a:xfrm>
              <a:off x="762000" y="381000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4"/>
            <p:cNvSpPr txBox="1"/>
            <p:nvPr/>
          </p:nvSpPr>
          <p:spPr>
            <a:xfrm>
              <a:off x="762000" y="3810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latin typeface="Della Respira"/>
                  <a:ea typeface="Della Respira"/>
                  <a:cs typeface="Della Respira"/>
                  <a:sym typeface="Della Respira"/>
                </a:rPr>
                <a:t>Ablation Study – What Actually Matters?</a:t>
              </a:r>
              <a:endParaRPr sz="3200" b="1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endParaRPr>
            </a:p>
          </p:txBody>
        </p:sp>
      </p:grpSp>
      <p:pic>
        <p:nvPicPr>
          <p:cNvPr id="622" name="Google Shape;6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400"/>
            <a:ext cx="8839199" cy="346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"/>
          <p:cNvSpPr/>
          <p:nvPr/>
        </p:nvSpPr>
        <p:spPr>
          <a:xfrm>
            <a:off x="279100" y="131475"/>
            <a:ext cx="8441700" cy="76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28" name="Google Shape;628;p75"/>
          <p:cNvGrpSpPr/>
          <p:nvPr/>
        </p:nvGrpSpPr>
        <p:grpSpPr>
          <a:xfrm>
            <a:off x="750475" y="131475"/>
            <a:ext cx="7620000" cy="762000"/>
            <a:chOff x="762000" y="381000"/>
            <a:chExt cx="7620000" cy="762000"/>
          </a:xfrm>
        </p:grpSpPr>
        <p:sp>
          <p:nvSpPr>
            <p:cNvPr id="629" name="Google Shape;629;p75"/>
            <p:cNvSpPr/>
            <p:nvPr/>
          </p:nvSpPr>
          <p:spPr>
            <a:xfrm>
              <a:off x="762000" y="381000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5"/>
            <p:cNvSpPr txBox="1"/>
            <p:nvPr/>
          </p:nvSpPr>
          <p:spPr>
            <a:xfrm>
              <a:off x="762000" y="3810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latin typeface="Della Respira"/>
                  <a:ea typeface="Della Respira"/>
                  <a:cs typeface="Della Respira"/>
                  <a:sym typeface="Della Respira"/>
                </a:rPr>
                <a:t>Ablation Study – What Actually Matters?</a:t>
              </a:r>
              <a:endParaRPr sz="3200" b="1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endParaRPr>
            </a:p>
          </p:txBody>
        </p:sp>
      </p:grpSp>
      <p:sp>
        <p:nvSpPr>
          <p:cNvPr id="631" name="Google Shape;631;p75"/>
          <p:cNvSpPr/>
          <p:nvPr/>
        </p:nvSpPr>
        <p:spPr>
          <a:xfrm>
            <a:off x="1997350" y="1137600"/>
            <a:ext cx="5005200" cy="393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2" name="Google Shape;632;p75"/>
          <p:cNvSpPr/>
          <p:nvPr/>
        </p:nvSpPr>
        <p:spPr>
          <a:xfrm>
            <a:off x="3272500" y="1287500"/>
            <a:ext cx="1949100" cy="5421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3" name="Google Shape;633;p75"/>
          <p:cNvSpPr txBox="1"/>
          <p:nvPr/>
        </p:nvSpPr>
        <p:spPr>
          <a:xfrm>
            <a:off x="3272500" y="1287488"/>
            <a:ext cx="24333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Key Findings:</a:t>
            </a:r>
            <a:endParaRPr sz="2000" b="1"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4" name="Google Shape;634;p75"/>
          <p:cNvSpPr txBox="1"/>
          <p:nvPr/>
        </p:nvSpPr>
        <p:spPr>
          <a:xfrm>
            <a:off x="2377900" y="1905025"/>
            <a:ext cx="4222500" cy="30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5" name="Google Shape;635;p75"/>
          <p:cNvSpPr/>
          <p:nvPr/>
        </p:nvSpPr>
        <p:spPr>
          <a:xfrm>
            <a:off x="2550900" y="2152450"/>
            <a:ext cx="334500" cy="334500"/>
          </a:xfrm>
          <a:prstGeom prst="flowChartConnector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EFEFEF"/>
                </a:solidFill>
                <a:latin typeface="CG Times"/>
                <a:ea typeface="CG Times"/>
                <a:cs typeface="CG Times"/>
                <a:sym typeface="CG Times"/>
              </a:rPr>
              <a:t>1</a:t>
            </a:r>
            <a:endParaRPr sz="1600" b="1">
              <a:solidFill>
                <a:srgbClr val="EFEFEF"/>
              </a:solidFill>
              <a:latin typeface="CG Times"/>
              <a:ea typeface="CG Times"/>
              <a:cs typeface="CG Times"/>
              <a:sym typeface="CG Times"/>
            </a:endParaRPr>
          </a:p>
        </p:txBody>
      </p:sp>
      <p:sp>
        <p:nvSpPr>
          <p:cNvPr id="636" name="Google Shape;636;p75"/>
          <p:cNvSpPr/>
          <p:nvPr/>
        </p:nvSpPr>
        <p:spPr>
          <a:xfrm>
            <a:off x="2521200" y="2869950"/>
            <a:ext cx="334500" cy="334500"/>
          </a:xfrm>
          <a:prstGeom prst="flowChartConnector">
            <a:avLst/>
          </a:prstGeom>
          <a:solidFill>
            <a:srgbClr val="D977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7" name="Google Shape;637;p75"/>
          <p:cNvSpPr/>
          <p:nvPr/>
        </p:nvSpPr>
        <p:spPr>
          <a:xfrm>
            <a:off x="2521200" y="3557375"/>
            <a:ext cx="334500" cy="334500"/>
          </a:xfrm>
          <a:prstGeom prst="flowChartConnector">
            <a:avLst/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8" name="Google Shape;638;p75"/>
          <p:cNvSpPr/>
          <p:nvPr/>
        </p:nvSpPr>
        <p:spPr>
          <a:xfrm>
            <a:off x="2521200" y="4244800"/>
            <a:ext cx="334500" cy="334500"/>
          </a:xfrm>
          <a:prstGeom prst="flowChartConnector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>
              <a:solidFill>
                <a:srgbClr val="EFEF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9" name="Google Shape;639;p75"/>
          <p:cNvSpPr txBox="1"/>
          <p:nvPr/>
        </p:nvSpPr>
        <p:spPr>
          <a:xfrm>
            <a:off x="2885400" y="2002600"/>
            <a:ext cx="3921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Semantic chunking is the single most impactful component (−0.192 ROUGE-L).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0" name="Google Shape;640;p75"/>
          <p:cNvSpPr txBox="1"/>
          <p:nvPr/>
        </p:nvSpPr>
        <p:spPr>
          <a:xfrm>
            <a:off x="2885400" y="2720100"/>
            <a:ext cx="3921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Prompting quality (−0.134) matters more than retrieval strategy differences.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1" name="Google Shape;641;p75"/>
          <p:cNvSpPr txBox="1"/>
          <p:nvPr/>
        </p:nvSpPr>
        <p:spPr>
          <a:xfrm>
            <a:off x="2885400" y="3437600"/>
            <a:ext cx="3921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RAG context improves ROUGE-L by +0.204 vs no-context.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2" name="Google Shape;642;p75"/>
          <p:cNvSpPr txBox="1"/>
          <p:nvPr/>
        </p:nvSpPr>
        <p:spPr>
          <a:xfrm>
            <a:off x="2885400" y="4094950"/>
            <a:ext cx="392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Every component contributes, nothing in the system is redundant, as seen with the ablation study.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name="adj" fmla="val 25275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76"/>
          <p:cNvSpPr txBox="1">
            <a:spLocks noGrp="1"/>
          </p:cNvSpPr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THANK YOU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 Light</vt:lpstr>
      <vt:lpstr>CG Times</vt:lpstr>
      <vt:lpstr>DM Sans</vt:lpstr>
      <vt:lpstr>Della Respira</vt:lpstr>
      <vt:lpstr>Arial</vt:lpstr>
      <vt:lpstr>Group/Class Project #1</vt:lpstr>
      <vt:lpstr>East Asian Cuisine RAG Assistant</vt:lpstr>
      <vt:lpstr>The LLM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Rohan Ravindra Inamdar</cp:lastModifiedBy>
  <cp:revision>1</cp:revision>
  <dcterms:modified xsi:type="dcterms:W3CDTF">2026-04-23T22:04:10Z</dcterms:modified>
</cp:coreProperties>
</file>